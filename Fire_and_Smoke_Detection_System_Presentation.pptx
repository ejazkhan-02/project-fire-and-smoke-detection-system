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986" y="889998"/>
            <a:ext cx="2743200" cy="2743200"/>
          </a:xfrm>
          <a:prstGeom prst="rect">
            <a:avLst/>
          </a:prstGeom>
        </p:spPr>
      </p:pic>
      <p:pic>
        <p:nvPicPr>
          <p:cNvPr id="5" name="Picture 4" descr="smo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363" y="3063240"/>
            <a:ext cx="2926080" cy="18113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658368"/>
            <a:ext cx="2743200" cy="32918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0F0F"/>
                </a:solidFill>
                <a:latin typeface="Aptos"/>
              </a:rPr>
              <a:t>COMPUTER VISION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4980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5F7FA"/>
                </a:solidFill>
                <a:latin typeface="Aptos Display"/>
              </a:rPr>
              <a:t>Fire &amp; Smoke
Detection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77077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B6BEC9"/>
                </a:solidFill>
                <a:latin typeface="Aptos"/>
              </a:rPr>
              <a:t>A Python + OpenCV image processing system that detects fire-colored regions and smoke-like regions using HSV/RGB masks, morphology, contours, and bounding boxes.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51960"/>
            <a:ext cx="1645920" cy="749808"/>
          </a:xfrm>
          <a:prstGeom prst="roundRect">
            <a:avLst/>
          </a:prstGeom>
          <a:solidFill>
            <a:srgbClr val="11151D"/>
          </a:solidFill>
          <a:ln w="10160">
            <a:solidFill>
              <a:srgbClr val="37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681F"/>
                </a:solidFill>
                <a:latin typeface="Aptos Display"/>
              </a:rPr>
              <a:t>OpenCV</a:t>
            </a:r>
          </a:p>
          <a:p>
            <a:pPr algn="ctr"/>
            <a:r>
              <a:rPr sz="919">
                <a:solidFill>
                  <a:srgbClr val="B6BEC9"/>
                </a:solidFill>
                <a:latin typeface="Aptos"/>
              </a:rPr>
              <a:t>Core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4251960"/>
            <a:ext cx="1645920" cy="749808"/>
          </a:xfrm>
          <a:prstGeom prst="roundRect">
            <a:avLst/>
          </a:prstGeom>
          <a:solidFill>
            <a:srgbClr val="11151D"/>
          </a:solidFill>
          <a:ln w="10160">
            <a:solidFill>
              <a:srgbClr val="37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B138"/>
                </a:solidFill>
                <a:latin typeface="Aptos Display"/>
              </a:rPr>
              <a:t>HSV</a:t>
            </a:r>
          </a:p>
          <a:p>
            <a:pPr algn="ctr"/>
            <a:r>
              <a:rPr sz="919">
                <a:solidFill>
                  <a:srgbClr val="B6BEC9"/>
                </a:solidFill>
                <a:latin typeface="Aptos"/>
              </a:rPr>
              <a:t>Color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4251960"/>
            <a:ext cx="1827949" cy="749808"/>
          </a:xfrm>
          <a:prstGeom prst="roundRect">
            <a:avLst/>
          </a:prstGeom>
          <a:solidFill>
            <a:srgbClr val="11151D"/>
          </a:solidFill>
          <a:ln w="10160">
            <a:solidFill>
              <a:srgbClr val="37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48B4FF"/>
                </a:solidFill>
                <a:latin typeface="Aptos Display"/>
              </a:rPr>
              <a:t>Contours</a:t>
            </a:r>
          </a:p>
          <a:p>
            <a:pPr algn="ctr"/>
            <a:r>
              <a:rPr sz="919" dirty="0">
                <a:solidFill>
                  <a:srgbClr val="B6BEC9"/>
                </a:solidFill>
                <a:latin typeface="Aptos"/>
              </a:rPr>
              <a:t>Object Localization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What the system does and how the output is generated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3968496" cy="914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5" y="1627632"/>
            <a:ext cx="3337560" cy="356616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7782" y="1627632"/>
            <a:ext cx="54864" cy="356616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92607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Detect visible fire and smoke from an uploaded image.</a:t>
            </a:r>
          </a:p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Mark suspected fire/smoke regions with bounding boxes.</a:t>
            </a:r>
          </a:p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Display both original and processed output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337560" cy="356616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79391" y="1645920"/>
            <a:ext cx="54864" cy="356616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81051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Current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212848"/>
            <a:ext cx="292607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Works on static images in Google Colab.</a:t>
            </a:r>
          </a:p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Uses classical computer vision rules, not a trained dataset model.</a:t>
            </a:r>
          </a:p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Best suited for controlled project demonstration.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3337560" cy="356616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82710" y="1602964"/>
            <a:ext cx="54864" cy="356616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1810512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92607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Fire Detected</a:t>
            </a:r>
          </a:p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Smoke Detected</a:t>
            </a:r>
          </a:p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Fire Detected, Smoke Detected</a:t>
            </a:r>
          </a:p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No Fire or Smoke Detected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Why early fire/smoke detection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2886952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Fire incidents can spread quickly when visual signs are not detected early.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Manual monitoring is slow and depends on human attention.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A camera-based detection system can support early warning in homes, labs, factories, and public areas.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This project demonstrates a lightweight image-processing approach for detecting visible fire and smoke regions.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389120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2182" y="1575851"/>
            <a:ext cx="54864" cy="1005840"/>
          </a:xfrm>
          <a:prstGeom prst="roundRect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1627632"/>
            <a:ext cx="4005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F7FA"/>
                </a:solidFill>
                <a:latin typeface="Aptos Display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02996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Image uploaded by user in Google Colab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43200"/>
            <a:ext cx="4389120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96228" y="2743200"/>
            <a:ext cx="54864" cy="10058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2907792"/>
            <a:ext cx="4005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  <a:latin typeface="Aptos Display"/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331012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Color conversion, masks, filtering, contour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023360"/>
            <a:ext cx="4389120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2182" y="4023360"/>
            <a:ext cx="54864" cy="1005840"/>
          </a:xfrm>
          <a:prstGeom prst="roundRect">
            <a:avLst/>
          </a:prstGeom>
          <a:solidFill>
            <a:srgbClr val="E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4187952"/>
            <a:ext cx="4005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  <a:latin typeface="Aptos Display"/>
              </a:rPr>
              <a:t>Alert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459028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Text label + bounding boxes over suspected areas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2487168"/>
            <a:ext cx="0" cy="256032"/>
          </a:xfrm>
          <a:prstGeom prst="line">
            <a:avLst/>
          </a:prstGeom>
          <a:ln w="25400">
            <a:solidFill>
              <a:srgbClr val="FF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32520" y="3767328"/>
            <a:ext cx="0" cy="256032"/>
          </a:xfrm>
          <a:prstGeom prst="line">
            <a:avLst/>
          </a:prstGeom>
          <a:ln w="25400">
            <a:solidFill>
              <a:srgbClr val="FF6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Tools &amp; Libraries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Main technologies used in the uploaded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" y="1261872"/>
            <a:ext cx="3439845" cy="45719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50749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8177" y="1586484"/>
            <a:ext cx="54864" cy="13258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76479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16712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B6BEC9"/>
                </a:solidFill>
                <a:latin typeface="Aptos"/>
              </a:defRPr>
            </a:pPr>
            <a:r>
              <a:t>Programming language used to write the complete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600200"/>
            <a:ext cx="50749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03991" y="1577340"/>
            <a:ext cx="54864" cy="132588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76479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OpenCV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16712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B6BEC9"/>
                </a:solidFill>
                <a:latin typeface="Aptos"/>
              </a:defRPr>
            </a:pPr>
            <a:r>
              <a:t>Reads image, converts color spaces, creates masks, finds contours, draws boxes.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474720"/>
            <a:ext cx="50749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" y="3457602"/>
            <a:ext cx="54864" cy="132588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363931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04164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B6BEC9"/>
                </a:solidFill>
                <a:latin typeface="Aptos"/>
              </a:defRPr>
            </a:pPr>
            <a:r>
              <a:t>Handles pixel-wise logical conditions and array operations.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3474720"/>
            <a:ext cx="50749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03991" y="3520440"/>
            <a:ext cx="54864" cy="1325880"/>
          </a:xfrm>
          <a:prstGeom prst="roundRect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47104" y="363931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Google 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04164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B6BEC9"/>
                </a:solidFill>
                <a:latin typeface="Aptos"/>
              </a:defRPr>
            </a:pPr>
            <a:r>
              <a:t>Used for image upload and displaying output using cv2_imshow.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486400"/>
            <a:ext cx="10698480" cy="731520"/>
          </a:xfrm>
          <a:prstGeom prst="roundRect">
            <a:avLst/>
          </a:prstGeom>
          <a:solidFill>
            <a:srgbClr val="0A0D12"/>
          </a:solidFill>
          <a:ln w="10160">
            <a:solidFill>
              <a:srgbClr val="46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5623560"/>
            <a:ext cx="104058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CE1E8"/>
                </a:solidFill>
                <a:latin typeface="Consolas"/>
              </a:rPr>
              <a:t>import cv2
import numpy as np
from google.colab import files, patches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End-to-end process followed by the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3067706" cy="914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88036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54864" cy="12344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1. Upload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6712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B6BEC9"/>
                </a:solidFill>
                <a:latin typeface="Aptos"/>
              </a:defRPr>
            </a:pPr>
            <a:r>
              <a:t>choose_image() uploads a single image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00200"/>
            <a:ext cx="288036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54864" cy="123444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764792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2. Read &amp;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16712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B6BEC9"/>
                </a:solidFill>
                <a:latin typeface="Aptos"/>
              </a:defRPr>
            </a:pPr>
            <a:r>
              <a:t>cv2.imread() reads image and creates output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00200"/>
            <a:ext cx="288036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0" y="1600200"/>
            <a:ext cx="54864" cy="123444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2" y="1764792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3. 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216712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B6BEC9"/>
                </a:solidFill>
                <a:latin typeface="Aptos"/>
              </a:defRPr>
            </a:pPr>
            <a:r>
              <a:t>Convert BGR to HSV and grayscale.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288036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9906" y="3657600"/>
            <a:ext cx="54864" cy="12344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3822191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4. Detect Fire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22452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B6BEC9"/>
                </a:solidFill>
                <a:latin typeface="Aptos"/>
              </a:defRPr>
            </a:pPr>
            <a:r>
              <a:t>Apply HSV + RGB fire masks, then filter contours.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657600"/>
            <a:ext cx="288036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51960" y="3657600"/>
            <a:ext cx="54864" cy="123444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3822191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5. Detect Smoke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22452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B6BEC9"/>
                </a:solidFill>
                <a:latin typeface="Aptos"/>
              </a:defRPr>
            </a:pPr>
            <a:r>
              <a:t>Apply gray/saturation mask, remove sky/white areas, filter contours.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657600"/>
            <a:ext cx="288036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72400" y="3657600"/>
            <a:ext cx="54864" cy="123444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2712" y="3822191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6. Show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422452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B6BEC9"/>
                </a:solidFill>
                <a:latin typeface="Aptos"/>
              </a:defRPr>
            </a:pPr>
            <a:r>
              <a:t>Draw red/blue boxes and print detection text.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11880" y="2221992"/>
            <a:ext cx="640080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32320" y="2221992"/>
            <a:ext cx="640080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834640"/>
            <a:ext cx="0" cy="82296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132320" y="4279392"/>
            <a:ext cx="640080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611880" y="4279392"/>
            <a:ext cx="640080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138928"/>
            <a:ext cx="3931920" cy="221170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Fire Detection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How fire-colored regions are identified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" y="1261872"/>
            <a:ext cx="2833789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212080" cy="42976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7263" y="1463040"/>
            <a:ext cx="54864" cy="42976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27632"/>
            <a:ext cx="4828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  <a:latin typeface="Aptos Display"/>
              </a:rPr>
              <a:t>Main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29968"/>
            <a:ext cx="48006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6BEC9"/>
                </a:solidFill>
                <a:latin typeface="Aptos"/>
              </a:defRPr>
            </a:pPr>
            <a:r>
              <a:t>Fire usually contains strong red/orange/yellow tones.</a:t>
            </a:r>
          </a:p>
          <a:p>
            <a:pPr>
              <a:spcAft>
                <a:spcPts val="500"/>
              </a:spcAft>
              <a:defRPr sz="1300">
                <a:solidFill>
                  <a:srgbClr val="B6BEC9"/>
                </a:solidFill>
                <a:latin typeface="Aptos"/>
              </a:defRPr>
            </a:pPr>
            <a:r>
              <a:t>The code checks fire-like HSV ranges and also validates RGB dominance: red is high, red &gt; green, and green &gt; blue.</a:t>
            </a:r>
          </a:p>
          <a:p>
            <a:pPr>
              <a:spcAft>
                <a:spcPts val="500"/>
              </a:spcAft>
              <a:defRPr sz="1300">
                <a:solidFill>
                  <a:srgbClr val="B6BEC9"/>
                </a:solidFill>
                <a:latin typeface="Aptos"/>
              </a:defRPr>
            </a:pPr>
            <a:r>
              <a:t>Noise is removed using morphological opening, then suspected regions are expanded slightly using dilation.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08760"/>
            <a:ext cx="4709160" cy="2148840"/>
          </a:xfrm>
          <a:prstGeom prst="roundRect">
            <a:avLst/>
          </a:prstGeom>
          <a:solidFill>
            <a:srgbClr val="0A0D12"/>
          </a:solidFill>
          <a:ln w="10160">
            <a:solidFill>
              <a:srgbClr val="46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645919"/>
            <a:ext cx="4416552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CE1E8"/>
                </a:solidFill>
                <a:latin typeface="Consolas"/>
              </a:rPr>
              <a:t>lower_fire1 = np.array([0, 80, 120])
upper_fire1 = np.array([25, 255, 255])
fire_rgb = ((r &gt; 150) &amp; (r &gt; g) &amp; (g &gt; b))
fire_mask = fire_mask_hsv OR fire_rgb
fire_ratio &lt; 0.001  →  no fire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977639"/>
            <a:ext cx="4709160" cy="105156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13932" y="3977639"/>
            <a:ext cx="54864" cy="105156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2" y="4142231"/>
            <a:ext cx="4325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Bounding Box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544568"/>
            <a:ext cx="42976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B6BEC9"/>
                </a:solidFill>
                <a:latin typeface="Aptos"/>
              </a:defRPr>
            </a:pPr>
            <a:r>
              <a:t>Contours with very small area are ignored, and extremely large boxes are rejected to reduce false detection.</a:t>
            </a:r>
          </a:p>
        </p:txBody>
      </p:sp>
      <p:pic>
        <p:nvPicPr>
          <p:cNvPr id="17" name="Picture 16" descr="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5084063"/>
            <a:ext cx="1188720" cy="11887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Smoke Detection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How smoke-like regions are separated from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" y="1261872"/>
            <a:ext cx="4088431" cy="45719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94960" cy="45262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9496" y="1485900"/>
            <a:ext cx="54864" cy="4526280"/>
          </a:xfrm>
          <a:prstGeom prst="roundRect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81912"/>
            <a:ext cx="5010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  <a:latin typeface="Aptos Display"/>
              </a:rPr>
              <a:t>Main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B6BEC9"/>
                </a:solidFill>
                <a:latin typeface="Aptos"/>
              </a:defRPr>
            </a:pPr>
            <a:r>
              <a:t>Smoke is usually gray/low-saturation and soft-edged.</a:t>
            </a:r>
          </a:p>
          <a:p>
            <a:pPr>
              <a:spcAft>
                <a:spcPts val="500"/>
              </a:spcAft>
              <a:defRPr sz="1280">
                <a:solidFill>
                  <a:srgbClr val="B6BEC9"/>
                </a:solidFill>
                <a:latin typeface="Aptos"/>
              </a:defRPr>
            </a:pPr>
            <a:r>
              <a:t>The code creates a low-saturation HSV mask for grayish regions.</a:t>
            </a:r>
          </a:p>
          <a:p>
            <a:pPr>
              <a:spcAft>
                <a:spcPts val="500"/>
              </a:spcAft>
              <a:defRPr sz="1280">
                <a:solidFill>
                  <a:srgbClr val="B6BEC9"/>
                </a:solidFill>
                <a:latin typeface="Aptos"/>
              </a:defRPr>
            </a:pPr>
            <a:r>
              <a:t>Bright white areas and blue sky regions are removed to reduce false positives.</a:t>
            </a:r>
          </a:p>
          <a:p>
            <a:pPr>
              <a:spcAft>
                <a:spcPts val="500"/>
              </a:spcAft>
              <a:defRPr sz="1280">
                <a:solidFill>
                  <a:srgbClr val="B6BEC9"/>
                </a:solidFill>
                <a:latin typeface="Aptos"/>
              </a:defRPr>
            </a:pPr>
            <a:r>
              <a:t>Canny edge ratio is used: smoke should have fewer sharp edges than solid objects.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08760"/>
            <a:ext cx="4709160" cy="2240280"/>
          </a:xfrm>
          <a:prstGeom prst="roundRect">
            <a:avLst/>
          </a:prstGeom>
          <a:solidFill>
            <a:srgbClr val="0A0D12"/>
          </a:solidFill>
          <a:ln w="10160">
            <a:solidFill>
              <a:srgbClr val="46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645919"/>
            <a:ext cx="44165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CE1E8"/>
                </a:solidFill>
                <a:latin typeface="Consolas"/>
              </a:rPr>
              <a:t>lower_smoke = np.array([0, 0, 50])
upper_smoke = np.array([180, 80, 220])
remove: bright white areas
remove: blue-sky HSV range
reject: high edge density
smoke_ratio &lt; 0.01  →  no smoke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069080"/>
            <a:ext cx="4709160" cy="114300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7860" y="4069080"/>
            <a:ext cx="54864" cy="114300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2" y="4233672"/>
            <a:ext cx="4325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Shape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63600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B6BEC9"/>
                </a:solidFill>
                <a:latin typeface="Aptos"/>
              </a:defRPr>
            </a:pPr>
            <a:r>
              <a:t>Rejects objects that are too small, too low in the image, too thin, too solid, or too edge-heavy.</a:t>
            </a:r>
          </a:p>
        </p:txBody>
      </p:sp>
      <p:pic>
        <p:nvPicPr>
          <p:cNvPr id="17" name="Picture 16" descr="smo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5230368"/>
            <a:ext cx="1828800" cy="113211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Result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How the final output is shown to the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1051560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8447" y="1637308"/>
            <a:ext cx="5486400" cy="4206240"/>
          </a:xfrm>
          <a:prstGeom prst="roundRect">
            <a:avLst/>
          </a:prstGeom>
          <a:solidFill>
            <a:srgbClr val="0E1218"/>
          </a:solidFill>
          <a:ln w="12700">
            <a:solidFill>
              <a:srgbClr val="505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57" y="3077488"/>
            <a:ext cx="1234440" cy="1234440"/>
          </a:xfrm>
          <a:prstGeom prst="rect">
            <a:avLst/>
          </a:prstGeom>
        </p:spPr>
      </p:pic>
      <p:pic>
        <p:nvPicPr>
          <p:cNvPr id="9" name="Picture 8" descr="smo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283547"/>
            <a:ext cx="1920240" cy="1188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257" y="2779776"/>
            <a:ext cx="1463040" cy="1828800"/>
          </a:xfrm>
          <a:prstGeom prst="rect">
            <a:avLst/>
          </a:prstGeom>
          <a:noFill/>
          <a:ln w="31750">
            <a:solidFill>
              <a:srgbClr val="E03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3077488"/>
            <a:ext cx="2194560" cy="1325880"/>
          </a:xfrm>
          <a:prstGeom prst="rect">
            <a:avLst/>
          </a:prstGeom>
          <a:noFill/>
          <a:ln w="31750">
            <a:solidFill>
              <a:srgbClr val="48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2767" y="1824228"/>
            <a:ext cx="4937760" cy="502920"/>
          </a:xfrm>
          <a:prstGeom prst="round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FF6E"/>
                </a:solidFill>
                <a:latin typeface="Aptos"/>
              </a:rPr>
              <a:t>Fire Detected, Smoke Detected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508760"/>
            <a:ext cx="4251960" cy="114300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12280" y="1508760"/>
            <a:ext cx="54864" cy="1143000"/>
          </a:xfrm>
          <a:prstGeom prst="roundRect">
            <a:avLst/>
          </a:prstGeom>
          <a:solidFill>
            <a:srgbClr val="E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22592" y="1673351"/>
            <a:ext cx="3867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Red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0756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Fire regions are drawn using BGR color (0, 0, 255).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880360"/>
            <a:ext cx="4251960" cy="114300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12280" y="2880360"/>
            <a:ext cx="54864" cy="114300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22592" y="3044952"/>
            <a:ext cx="3867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Blue 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4472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Smoke regions are drawn using BGR color (255, 0, 0).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4251960"/>
            <a:ext cx="4251960" cy="114300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12280" y="4251960"/>
            <a:ext cx="54864" cy="114300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22592" y="4416552"/>
            <a:ext cx="3867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Text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8188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6BEC9"/>
                </a:solidFill>
                <a:latin typeface="Aptos"/>
              </a:defRPr>
            </a:pPr>
            <a:r>
              <a:t>The final status is written at the top of the output image.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Code Review: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What is good in the current project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3838778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5074920" cy="10972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4063" y="1458468"/>
            <a:ext cx="54864" cy="10972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58191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F7FA"/>
                </a:solidFill>
                <a:latin typeface="Aptos Display"/>
              </a:rPr>
              <a:t>✓ Clear function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1984248"/>
            <a:ext cx="46634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B6BEC9"/>
                </a:solidFill>
                <a:latin typeface="Aptos"/>
              </a:defRPr>
            </a:pPr>
            <a:r>
              <a:t>Image upload and detection logic are separated using choose_image() and detect_fire_and_smoke().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074920" cy="10972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70978" y="1417320"/>
            <a:ext cx="54864" cy="109728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58191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  <a:latin typeface="Aptos Display"/>
              </a:rPr>
              <a:t>✓ Good color-space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84248"/>
            <a:ext cx="46634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B6BEC9"/>
                </a:solidFill>
                <a:latin typeface="Aptos"/>
              </a:defRPr>
            </a:pPr>
            <a:r>
              <a:t>HSV is better than raw RGB for detecting color ranges under different lighting.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898648"/>
            <a:ext cx="5074920" cy="10972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4063" y="2919222"/>
            <a:ext cx="54864" cy="10972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3063240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  <a:latin typeface="Aptos Display"/>
              </a:rPr>
              <a:t>✓ Noise reduction 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3465576"/>
            <a:ext cx="46634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B6BEC9"/>
                </a:solidFill>
                <a:latin typeface="Aptos"/>
              </a:defRPr>
            </a:pPr>
            <a:r>
              <a:t>Morphological opening, closing, and dilation make masks cleaner.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898648"/>
            <a:ext cx="5074920" cy="10972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69064" y="2916936"/>
            <a:ext cx="54864" cy="109728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3063240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  <a:latin typeface="Aptos Display"/>
              </a:rPr>
              <a:t>✓ False-positive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465576"/>
            <a:ext cx="46634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B6BEC9"/>
                </a:solidFill>
                <a:latin typeface="Aptos"/>
              </a:defRPr>
            </a:pPr>
            <a:r>
              <a:t>Area, aspect ratio, fill ratio, sky mask, white mask, and edge density improve reliability.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379976"/>
            <a:ext cx="5074920" cy="10972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3313" y="4339971"/>
            <a:ext cx="54864" cy="10972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" y="4544568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  <a:latin typeface="Aptos Display"/>
              </a:rPr>
              <a:t>✓ Visual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946904"/>
            <a:ext cx="46634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B6BEC9"/>
                </a:solidFill>
                <a:latin typeface="Aptos"/>
              </a:defRPr>
            </a:pPr>
            <a:r>
              <a:t>Bounding boxes and result text make the demo easy to understand.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379976"/>
            <a:ext cx="5074920" cy="10972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067044" y="4398264"/>
            <a:ext cx="54864" cy="109728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9944" y="4544568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  <a:latin typeface="Aptos Display"/>
              </a:rPr>
              <a:t>✓ Colab friendly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4946904"/>
            <a:ext cx="46634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B6BEC9"/>
                </a:solidFill>
                <a:latin typeface="Aptos"/>
              </a:defRPr>
            </a:pPr>
            <a:r>
              <a:t>File upload and cv2_imshow make it simple to run during presentation.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Code Review: Limitations &amp;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Honest points to mention during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" y="1261872"/>
            <a:ext cx="3322887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" y="1417320"/>
            <a:ext cx="54864" cy="4434840"/>
          </a:xfrm>
          <a:prstGeom prst="roundRect">
            <a:avLst/>
          </a:prstGeom>
          <a:solidFill>
            <a:srgbClr val="E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81912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  <a:latin typeface="Aptos Display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Works only on uploaded images, not live camera or CCTV video.</a:t>
            </a:r>
          </a:p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Rule-based color thresholds can fail in unusual lighting.</a:t>
            </a:r>
          </a:p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Orange objects, sunset, lamps, clouds, fog, dust, or white walls can create false positives.</a:t>
            </a:r>
          </a:p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It does not send an alarm, save logs, or measure confidence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029200" cy="4434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08882" y="1417320"/>
            <a:ext cx="54864" cy="44348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1581912"/>
            <a:ext cx="4645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  <a:latin typeface="Aptos Display"/>
              </a:rPr>
              <a:t>Recommended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1984248"/>
            <a:ext cx="4617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Add webcam/video-stream detection using cv2.VideoCapture().</a:t>
            </a:r>
          </a:p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Add confidence score based on fire_ratio and smoke_ratio.</a:t>
            </a:r>
          </a:p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Use deep learning model such as YOLO/CNN for stronger accuracy.</a:t>
            </a:r>
          </a:p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Add alarm sound, email/SMS alert, timestamp, and database logging.</a:t>
            </a:r>
          </a:p>
          <a:p>
            <a:pPr>
              <a:spcAft>
                <a:spcPts val="500"/>
              </a:spcAft>
              <a:defRPr sz="1250">
                <a:solidFill>
                  <a:srgbClr val="B6BEC9"/>
                </a:solidFill>
                <a:latin typeface="Aptos"/>
              </a:defRPr>
            </a:pPr>
            <a:r>
              <a:t>Test on a proper dataset and report accuracy, precision, and recall.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Proposed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How this project can become a complete safety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1051560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874519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4864" cy="1005840"/>
          </a:xfrm>
          <a:prstGeom prst="roundRect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73351"/>
            <a:ext cx="1490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Aptos Display"/>
              </a:rPr>
              <a:t>Camera / Image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508760"/>
            <a:ext cx="1874519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54680" y="1508760"/>
            <a:ext cx="54864" cy="100584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673351"/>
            <a:ext cx="1490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Aptos Display"/>
              </a:rPr>
              <a:t>OpenCV Preprocessing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508760"/>
            <a:ext cx="1874519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77840" y="1508760"/>
            <a:ext cx="54864" cy="10058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88152" y="1673351"/>
            <a:ext cx="1490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Aptos Display"/>
              </a:rPr>
              <a:t>Fire + Smoke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08760"/>
            <a:ext cx="1874519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1000" y="1508760"/>
            <a:ext cx="54864" cy="1005840"/>
          </a:xfrm>
          <a:prstGeom prst="roundRect">
            <a:avLst/>
          </a:prstGeom>
          <a:solidFill>
            <a:srgbClr val="E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673351"/>
            <a:ext cx="1490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Aptos Display"/>
              </a:rPr>
              <a:t>Alert Module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508760"/>
            <a:ext cx="1874519" cy="10058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58400" y="1508760"/>
            <a:ext cx="54864" cy="100584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68712" y="1673351"/>
            <a:ext cx="1490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F7FA"/>
                </a:solidFill>
                <a:latin typeface="Aptos Display"/>
              </a:rPr>
              <a:t>Database / Logs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39" y="2011680"/>
            <a:ext cx="548641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0" y="2011680"/>
            <a:ext cx="548640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59" y="2011680"/>
            <a:ext cx="548641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2011680"/>
            <a:ext cx="182880" cy="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43000" y="3794760"/>
            <a:ext cx="297180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43000" y="3794760"/>
            <a:ext cx="54864" cy="123444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53312" y="3959352"/>
            <a:ext cx="2587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User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3616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6BEC9"/>
                </a:solidFill>
                <a:latin typeface="Aptos"/>
              </a:defRPr>
            </a:pPr>
            <a:r>
              <a:t>Dashboard shows image/video feed, status, and detection history.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794760"/>
            <a:ext cx="297180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2000" y="3794760"/>
            <a:ext cx="54864" cy="123444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82312" y="3959352"/>
            <a:ext cx="2587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Decision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43616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6BEC9"/>
                </a:solidFill>
                <a:latin typeface="Aptos"/>
              </a:defRPr>
            </a:pPr>
            <a:r>
              <a:t>If fire or smoke ratio crosses threshold, trigger warning.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794760"/>
            <a:ext cx="2971800" cy="123444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001000" y="3794760"/>
            <a:ext cx="54864" cy="1234440"/>
          </a:xfrm>
          <a:prstGeom prst="roundRect">
            <a:avLst/>
          </a:prstGeom>
          <a:solidFill>
            <a:srgbClr val="E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2" y="3959352"/>
            <a:ext cx="2587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Emergency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3616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6BEC9"/>
                </a:solidFill>
                <a:latin typeface="Aptos"/>
              </a:defRPr>
            </a:pPr>
            <a:r>
              <a:t>Send alarm, notification, and save event evidence.</a:t>
            </a:r>
          </a:p>
        </p:txBody>
      </p:sp>
      <p:cxnSp>
        <p:nvCxnSpPr>
          <p:cNvPr id="38" name="Connector 37"/>
          <p:cNvCxnSpPr>
            <a:cxnSpLocks/>
          </p:cNvCxnSpPr>
          <p:nvPr/>
        </p:nvCxnSpPr>
        <p:spPr>
          <a:xfrm>
            <a:off x="2880359" y="1993391"/>
            <a:ext cx="0" cy="1801369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</p:cNvCxnSpPr>
          <p:nvPr/>
        </p:nvCxnSpPr>
        <p:spPr>
          <a:xfrm>
            <a:off x="6153912" y="2537460"/>
            <a:ext cx="0" cy="1257300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</p:cNvCxnSpPr>
          <p:nvPr/>
        </p:nvCxnSpPr>
        <p:spPr>
          <a:xfrm>
            <a:off x="8624164" y="2537460"/>
            <a:ext cx="679324" cy="1275588"/>
          </a:xfrm>
          <a:prstGeom prst="line">
            <a:avLst/>
          </a:prstGeom>
          <a:ln w="25400">
            <a:solidFill>
              <a:srgbClr val="B6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Simple steps to explain the project in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1051560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461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033" y="1508760"/>
            <a:ext cx="54864" cy="13258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73351"/>
            <a:ext cx="2862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F5F7FA"/>
                </a:solidFill>
                <a:latin typeface="Aptos Display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Run the Colab notebook and execute the code cell.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08760"/>
            <a:ext cx="32461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3234" y="1508760"/>
            <a:ext cx="54864" cy="13258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673351"/>
            <a:ext cx="2862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075688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Upload a fire/smoke sample image using the file upload button.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08760"/>
            <a:ext cx="32461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0707" y="1553097"/>
            <a:ext cx="54864" cy="132588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673351"/>
            <a:ext cx="2862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075688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Show the original image displayed by the program.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32461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8076" y="3429000"/>
            <a:ext cx="54864" cy="132588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3593592"/>
            <a:ext cx="2862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995928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Show the detection output with label and bounding boxes.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429000"/>
            <a:ext cx="32461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51000" y="3429000"/>
            <a:ext cx="54864" cy="132588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90872" y="3593592"/>
            <a:ext cx="2862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995928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Explain that red boxes represent fire and blue boxes represent smoke.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429000"/>
            <a:ext cx="3246120" cy="132588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36991" y="3418155"/>
            <a:ext cx="54864" cy="1325880"/>
          </a:xfrm>
          <a:prstGeom prst="roundRect">
            <a:avLst/>
          </a:prstGeom>
          <a:solidFill>
            <a:srgbClr val="4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9912" y="3593592"/>
            <a:ext cx="28620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Aptos Display"/>
              </a:rPr>
              <a:t>Step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3995928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Test with a normal image and show “No Fire or Smoke Detected”.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Common Viva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Short answers you can give confidently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61872"/>
            <a:ext cx="2863986" cy="45719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120640" cy="141732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504" y="1554480"/>
            <a:ext cx="54864" cy="141732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19072"/>
            <a:ext cx="4736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Why HSV instead of only RGB?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21408"/>
            <a:ext cx="4709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HSV separates color tone from brightness, so color thresholding is easier and more flexible.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554480"/>
            <a:ext cx="5120640" cy="141732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67520" y="1554480"/>
            <a:ext cx="54864" cy="141732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4736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Why use morphology?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21408"/>
            <a:ext cx="4709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To remove noise, fill gaps, and make detected regions cleaner before finding contours.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5120640" cy="141732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20" y="3474720"/>
            <a:ext cx="54864" cy="1417320"/>
          </a:xfrm>
          <a:prstGeom prst="roundRect">
            <a:avLst/>
          </a:prstGeom>
          <a:solidFill>
            <a:srgbClr val="FFB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639312"/>
            <a:ext cx="4736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What are contours?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041648"/>
            <a:ext cx="4709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Boundaries of detected mask regions; they help locate fire or smoke in the image.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474720"/>
            <a:ext cx="5120640" cy="1417320"/>
          </a:xfrm>
          <a:prstGeom prst="roundRect">
            <a:avLst/>
          </a:prstGeom>
          <a:solidFill>
            <a:srgbClr val="141820"/>
          </a:solidFill>
          <a:ln w="10160">
            <a:solidFill>
              <a:srgbClr val="3A4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40088" y="3474720"/>
            <a:ext cx="54864" cy="1417320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639312"/>
            <a:ext cx="4736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 Display"/>
              </a:rPr>
              <a:t>Is this deep learning?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41648"/>
            <a:ext cx="4709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B6BEC9"/>
                </a:solidFill>
                <a:latin typeface="Aptos"/>
              </a:defRPr>
            </a:pPr>
            <a:r>
              <a:t>No. This version is rule-based computer vision. Deep learning can be added later for higher accuracy.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6BEC9"/>
                </a:solidFill>
                <a:latin typeface="Aptos"/>
              </a:rPr>
              <a:t>Final summary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" y="1261872"/>
            <a:ext cx="2334059" cy="54864"/>
          </a:xfrm>
          <a:prstGeom prst="roundRect">
            <a:avLst/>
          </a:prstGeom>
          <a:solidFill>
            <a:srgbClr val="FF6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6692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The project successfully demonstrates fire and smoke detection using Python and OpenCV.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Fire is detected through red/orange HSV and RGB dominance rules.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Smoke is detected using low-saturation gray-region filtering with sky, white-area, shape, and edge filters.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The output is simple and clear: detected labels plus bounding boxes on the image.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Future work should add real-time video, alerts, logging, and deep-learning-based accuracy improvement.</a:t>
            </a:r>
          </a:p>
        </p:txBody>
      </p:sp>
      <p:pic>
        <p:nvPicPr>
          <p:cNvPr id="8" name="Picture 7" descr="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2066544"/>
            <a:ext cx="1874519" cy="1874519"/>
          </a:xfrm>
          <a:prstGeom prst="rect">
            <a:avLst/>
          </a:prstGeom>
        </p:spPr>
      </p:pic>
      <p:pic>
        <p:nvPicPr>
          <p:cNvPr id="9" name="Picture 8" descr="smo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618" y="3429000"/>
            <a:ext cx="2926080" cy="181138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49440" y="5074920"/>
            <a:ext cx="4114800" cy="685800"/>
          </a:xfrm>
          <a:prstGeom prst="roundRect">
            <a:avLst/>
          </a:prstGeom>
          <a:solidFill>
            <a:srgbClr val="12161E"/>
          </a:solidFill>
          <a:ln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 Display"/>
              </a:rPr>
              <a:t>Early visual detection can reduce response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5F7FA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306324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6BEC9"/>
                </a:solidFill>
                <a:latin typeface="Aptos"/>
              </a:rPr>
              <a:t>Questions?</a:t>
            </a:r>
          </a:p>
        </p:txBody>
      </p:sp>
      <p:pic>
        <p:nvPicPr>
          <p:cNvPr id="6" name="Picture 5" descr="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4023360"/>
            <a:ext cx="141732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0" y="6364224"/>
            <a:ext cx="1920240" cy="256032"/>
          </a:xfrm>
          <a:prstGeom prst="roundRect">
            <a:avLst/>
          </a:prstGeom>
          <a:solidFill>
            <a:srgbClr val="12161E"/>
          </a:solidFill>
          <a:ln w="6350">
            <a:solidFill>
              <a:srgbClr val="3C4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B6BEC9"/>
                </a:solidFill>
                <a:latin typeface="Aptos"/>
              </a:rPr>
              <a:t>Fire &amp; Smoke Detection  •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1477</Words>
  <Application>Microsoft Office PowerPoint</Application>
  <PresentationFormat>Widescreen</PresentationFormat>
  <Paragraphs>178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and Smoke Detection System</dc:title>
  <dc:subject>Computer Vision Project Presentation</dc:subject>
  <dc:creator>Ejaz saboor</dc:creator>
  <cp:keywords/>
  <dc:description>Generated from the uploaded OpenCV project code.</dc:description>
  <cp:lastModifiedBy>Zia Saboor</cp:lastModifiedBy>
  <cp:revision>2</cp:revision>
  <dcterms:created xsi:type="dcterms:W3CDTF">2013-01-27T09:14:16Z</dcterms:created>
  <dcterms:modified xsi:type="dcterms:W3CDTF">2026-05-31T15:27:22Z</dcterms:modified>
  <cp:category/>
</cp:coreProperties>
</file>